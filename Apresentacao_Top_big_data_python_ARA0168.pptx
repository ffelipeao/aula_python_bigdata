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2k3va2xrXca6hcyGGRyNUgRq0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8976DE-368F-4E36-BF06-F8747FFC89EF}">
  <a:tblStyle styleId="{358976DE-368F-4E36-BF06-F8747FFC89E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Tópicos de Big Data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Python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2397750"/>
            <a:ext cx="1078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 • ARA0168</a:t>
            </a:r>
            <a:endParaRPr sz="2700"/>
          </a:p>
        </p:txBody>
      </p:sp>
      <p:sp>
        <p:nvSpPr>
          <p:cNvPr id="87" name="Google Shape;87;p1"/>
          <p:cNvSpPr txBox="1"/>
          <p:nvPr/>
        </p:nvSpPr>
        <p:spPr>
          <a:xfrm>
            <a:off x="777240" y="5074920"/>
            <a:ext cx="10789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Professor</a:t>
            </a:r>
            <a:r>
              <a:rPr lang="en-US" sz="29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 Felipe Alves de Oliveira -</a:t>
            </a:r>
            <a:r>
              <a:rPr b="0" i="0" lang="en-US" sz="29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9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2026.1</a:t>
            </a:r>
            <a:endParaRPr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Agenda da aula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097280" y="1645920"/>
            <a:ext cx="101499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 que é Big Data e por que isso importa</a:t>
            </a:r>
            <a:endParaRPr sz="2400"/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Visão geral dos conteúdos da disciplina</a:t>
            </a:r>
            <a:endParaRPr sz="2400"/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Como vamos aprender (metodologia e projeto extensionista)</a:t>
            </a:r>
            <a:endParaRPr sz="2400"/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Como será a avaliação (NF + Simulados)</a:t>
            </a:r>
            <a:endParaRPr sz="2400"/>
          </a:p>
          <a:p>
            <a:pPr indent="-4064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sz="2400"/>
          </a:p>
        </p:txBody>
      </p:sp>
      <p:sp>
        <p:nvSpPr>
          <p:cNvPr id="96" name="Google Shape;96;p2"/>
          <p:cNvSpPr txBox="1"/>
          <p:nvPr/>
        </p:nvSpPr>
        <p:spPr>
          <a:xfrm>
            <a:off x="548640" y="6400800"/>
            <a:ext cx="1115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O que é Big Data?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142980" y="1645370"/>
            <a:ext cx="101499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Big Data trata do armazenamento, processamento e análise de grandes volumes de dados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Envolve dados que exigem abordagens e ferramentas além das</a:t>
            </a: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oluções tradicionais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○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Objetivo: transformar dados em informação útil para decisões, automação e previsões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Por que estudar Big Data?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731520" y="1371600"/>
            <a:ext cx="10789800" cy="438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142980" y="1744745"/>
            <a:ext cx="101499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Os dados estão em todo lugar: IoT, transações, redes sociais, logs, serviços digitais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Organizações usam dados para eficiência, inovação e vantagem competitiva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 disciplina foca em habilidades aplicáveis: preparar, processar e analisar dados em escala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Big Data + Python (o combo da prática)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731520" y="1371600"/>
            <a:ext cx="10789800" cy="438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243830" y="1765695"/>
            <a:ext cx="101499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Python é central em ciência de dados e analytics (ecossistema de bibliotecas)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Pandas para análise e preparação de dados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PySpark para processamento distribuído e pipelines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Noções de Hadoop e armazenamento (HDFS / Data Lake)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Analytics e IA aplicada ao contexto do projeto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10332720" y="0"/>
            <a:ext cx="1858975" cy="6858000"/>
          </a:xfrm>
          <a:prstGeom prst="rtTriangle">
            <a:avLst/>
          </a:prstGeom>
          <a:solidFill>
            <a:srgbClr val="FF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 e competências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731582" y="2299825"/>
            <a:ext cx="1078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O que você será capaz de fazer ao final do semestre</a:t>
            </a:r>
            <a:endParaRPr sz="2200"/>
          </a:p>
        </p:txBody>
      </p:sp>
      <p:sp>
        <p:nvSpPr>
          <p:cNvPr id="131" name="Google Shape;131;p6"/>
          <p:cNvSpPr txBox="1"/>
          <p:nvPr/>
        </p:nvSpPr>
        <p:spPr>
          <a:xfrm>
            <a:off x="548640" y="6400800"/>
            <a:ext cx="1115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Objetivos da disciplina (resumo)</a:t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1097280" y="1645920"/>
            <a:ext cx="101499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Planejar processamento de grandes volumes de informação com desempenho e disponibilidade</a:t>
            </a:r>
            <a:endParaRPr sz="2100"/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Esquematizar armazenamento e processamento distribuído (Hadoop e clusters)</a:t>
            </a:r>
            <a:endParaRPr sz="2100"/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Construir aplicações paralelas com PySpark e pipelines de ML</a:t>
            </a:r>
            <a:endParaRPr sz="2100"/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Analisar grandes volumes com Pandas e técnicas avançadas</a:t>
            </a:r>
            <a:endParaRPr sz="2100"/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Modelar análises de dados estruturados/semiestruturados</a:t>
            </a:r>
            <a:endParaRPr sz="2100"/>
          </a:p>
        </p:txBody>
      </p:sp>
      <p:sp>
        <p:nvSpPr>
          <p:cNvPr id="140" name="Google Shape;140;p7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Competências trabalhadas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1097280" y="1645920"/>
            <a:ext cx="10149900" cy="3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Técnicas: gerência/organização/recuperação de informações; ferramentas emergentes; análise para decisão</a:t>
            </a:r>
            <a:endParaRPr sz="2300"/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Socioemocionais: </a:t>
            </a:r>
            <a:endParaRPr sz="27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AutoNum type="alphaLcPeriod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trabalho em equipe; </a:t>
            </a:r>
            <a:endParaRPr sz="27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AutoNum type="alphaLcPeriod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lidar com conflitos; </a:t>
            </a:r>
            <a:endParaRPr sz="27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AutoNum type="alphaLcPeriod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aprendizado contínuo; </a:t>
            </a:r>
            <a:endParaRPr sz="27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AutoNum type="alphaLcPeriod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liderança</a:t>
            </a:r>
            <a:endParaRPr sz="2300"/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Integração ensino–pesquisa–extensão com foco em aplicação real</a:t>
            </a:r>
            <a:endParaRPr sz="2300"/>
          </a:p>
        </p:txBody>
      </p:sp>
      <p:sp>
        <p:nvSpPr>
          <p:cNvPr id="149" name="Google Shape;149;p8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10332720" y="0"/>
            <a:ext cx="1858975" cy="6858000"/>
          </a:xfrm>
          <a:prstGeom prst="rtTriangle">
            <a:avLst/>
          </a:prstGeom>
          <a:solidFill>
            <a:srgbClr val="FF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Conteúdo programático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731520" y="1828800"/>
            <a:ext cx="1078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Visão geral dos temas e ferramentas</a:t>
            </a:r>
            <a:endParaRPr sz="2600">
              <a:solidFill>
                <a:srgbClr val="E6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548640" y="6400800"/>
            <a:ext cx="1115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Mapa do semestre (5 blocos)</a:t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1097280" y="1645920"/>
            <a:ext cx="101499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900"/>
              <a:buFont typeface="Calibri"/>
              <a:buChar char="●"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1) Princípios de Big Data</a:t>
            </a:r>
            <a:endParaRPr sz="2500"/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900"/>
              <a:buFont typeface="Calibri"/>
              <a:buChar char="●"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2) Hadoop e armazenamento de dados</a:t>
            </a:r>
            <a:endParaRPr sz="2500"/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900"/>
              <a:buFont typeface="Calibri"/>
              <a:buChar char="●"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3) Spark com Python (PySpark)</a:t>
            </a:r>
            <a:endParaRPr sz="2500"/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900"/>
              <a:buFont typeface="Calibri"/>
              <a:buChar char="●"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4) Análise de dados em Python com Pandas</a:t>
            </a:r>
            <a:endParaRPr sz="2500"/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900"/>
              <a:buFont typeface="Calibri"/>
              <a:buChar char="●"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5) Big Data Analytics (atividade prática supervisionada)</a:t>
            </a:r>
            <a:endParaRPr sz="2500"/>
          </a:p>
        </p:txBody>
      </p:sp>
      <p:sp>
        <p:nvSpPr>
          <p:cNvPr id="166" name="Google Shape;166;p10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1) Princípios de Big Data</a:t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1097280" y="1645920"/>
            <a:ext cx="101499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25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3100"/>
              <a:buFont typeface="Calibri"/>
              <a:buChar char="●"/>
            </a:pPr>
            <a:r>
              <a:rPr lang="en-US" sz="31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Introdução e aplicações ao Big Data</a:t>
            </a:r>
            <a:endParaRPr sz="2700"/>
          </a:p>
          <a:p>
            <a:pPr indent="-425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3100"/>
              <a:buFont typeface="Calibri"/>
              <a:buChar char="●"/>
            </a:pPr>
            <a:r>
              <a:rPr lang="en-US" sz="31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Conceitos de IoT e computação distribuída</a:t>
            </a:r>
            <a:endParaRPr sz="2700"/>
          </a:p>
          <a:p>
            <a:pPr indent="-425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3100"/>
              <a:buFont typeface="Calibri"/>
              <a:buChar char="●"/>
            </a:pPr>
            <a:r>
              <a:rPr lang="en-US" sz="31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Plataformas em nuvem para aplicações de Big Data</a:t>
            </a:r>
            <a:endParaRPr sz="2700"/>
          </a:p>
          <a:p>
            <a:pPr indent="-425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3100"/>
              <a:buFont typeface="Calibri"/>
              <a:buChar char="●"/>
            </a:pPr>
            <a:r>
              <a:rPr lang="en-US" sz="31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Processamento e streaming de dados</a:t>
            </a:r>
            <a:endParaRPr sz="2700"/>
          </a:p>
        </p:txBody>
      </p:sp>
      <p:sp>
        <p:nvSpPr>
          <p:cNvPr id="175" name="Google Shape;175;p11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2) Hadoop e armazenamento de dados</a:t>
            </a: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1097280" y="1645920"/>
            <a:ext cx="101499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900"/>
              <a:buFont typeface="Calibri"/>
              <a:buChar char="●"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Introdução e arquitetura do Hadoop</a:t>
            </a:r>
            <a:endParaRPr sz="2500"/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900"/>
              <a:buFont typeface="Calibri"/>
              <a:buChar char="●"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Ecossistema e soluções com Hadoop</a:t>
            </a:r>
            <a:endParaRPr sz="2500"/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900"/>
              <a:buFont typeface="Calibri"/>
              <a:buChar char="●"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HDFS vs bancos relacionais (RDBMS)</a:t>
            </a:r>
            <a:endParaRPr sz="2500"/>
          </a:p>
          <a:p>
            <a:pPr indent="-412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900"/>
              <a:buFont typeface="Calibri"/>
              <a:buChar char="●"/>
            </a:pPr>
            <a:r>
              <a:rPr lang="en-US" sz="29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Conceito de Data Lake</a:t>
            </a:r>
            <a:endParaRPr sz="2500"/>
          </a:p>
        </p:txBody>
      </p:sp>
      <p:sp>
        <p:nvSpPr>
          <p:cNvPr id="184" name="Google Shape;184;p12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3) Spark com Python (PySpark)</a:t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1097280" y="1645920"/>
            <a:ext cx="101499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Introdução ao Spark</a:t>
            </a:r>
            <a:endParaRPr sz="2400"/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Utilização do PySpark</a:t>
            </a:r>
            <a:endParaRPr sz="2400"/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MapReduce com PySpark</a:t>
            </a:r>
            <a:endParaRPr sz="2400"/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Transformações e ações (operações distribuídas)</a:t>
            </a:r>
            <a:endParaRPr sz="2400"/>
          </a:p>
        </p:txBody>
      </p:sp>
      <p:sp>
        <p:nvSpPr>
          <p:cNvPr id="193" name="Google Shape;193;p13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4) Análise de dados com Pandas</a:t>
            </a:r>
            <a:endParaRPr/>
          </a:p>
        </p:txBody>
      </p:sp>
      <p:sp>
        <p:nvSpPr>
          <p:cNvPr id="200" name="Google Shape;200;p14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1097280" y="1645920"/>
            <a:ext cx="101499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Componentes e sintaxe do Pandas</a:t>
            </a:r>
            <a:endParaRPr sz="2300"/>
          </a:p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Preparação de dados (limpeza, tipos, faltantes)</a:t>
            </a:r>
            <a:endParaRPr sz="2300"/>
          </a:p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Manipulação (filtros, agregações, joins)</a:t>
            </a:r>
            <a:endParaRPr sz="2300"/>
          </a:p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Visualização e exploração</a:t>
            </a:r>
            <a:endParaRPr sz="2300"/>
          </a:p>
        </p:txBody>
      </p:sp>
      <p:sp>
        <p:nvSpPr>
          <p:cNvPr id="202" name="Google Shape;202;p14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5) Big Data Analytics (prática supervisionada)</a:t>
            </a:r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1097280" y="1645920"/>
            <a:ext cx="101499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KDD (descoberta do conhecimento)</a:t>
            </a:r>
            <a:endParaRPr sz="2200"/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Inteligência Artificial: conceitos essenciais</a:t>
            </a:r>
            <a:endParaRPr sz="2200"/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Aplicações de ML (TensorFlow)</a:t>
            </a:r>
            <a:endParaRPr sz="2200"/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Aplicações de aprendizado profundo (Scikit-learn)</a:t>
            </a:r>
            <a:endParaRPr sz="2200"/>
          </a:p>
        </p:txBody>
      </p:sp>
      <p:sp>
        <p:nvSpPr>
          <p:cNvPr id="211" name="Google Shape;211;p15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"/>
          <p:cNvSpPr/>
          <p:nvPr/>
        </p:nvSpPr>
        <p:spPr>
          <a:xfrm>
            <a:off x="10332720" y="0"/>
            <a:ext cx="1858975" cy="6858000"/>
          </a:xfrm>
          <a:prstGeom prst="rtTriangle">
            <a:avLst/>
          </a:prstGeom>
          <a:solidFill>
            <a:srgbClr val="FF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vamos aprender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731520" y="1828800"/>
            <a:ext cx="1078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Metodologia + Projeto Extensionista</a:t>
            </a:r>
            <a:endParaRPr sz="2600">
              <a:solidFill>
                <a:srgbClr val="E6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548640" y="6400800"/>
            <a:ext cx="1115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Metodologia de ensino-aprendizagem</a:t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1097280" y="1645920"/>
            <a:ext cx="101499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Aprendizagem baseada em projetos</a:t>
            </a:r>
            <a:endParaRPr sz="2300"/>
          </a:p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Sala de aula invertida: preparação prévia + discussão em sala</a:t>
            </a:r>
            <a:endParaRPr sz="2300"/>
          </a:p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Trabalho em grupos (até 5 alunos)</a:t>
            </a:r>
            <a:endParaRPr sz="2300"/>
          </a:p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Articulação teoria–prática com foco em problemas reais</a:t>
            </a:r>
            <a:endParaRPr sz="2300"/>
          </a:p>
        </p:txBody>
      </p:sp>
      <p:sp>
        <p:nvSpPr>
          <p:cNvPr id="228" name="Google Shape;228;p17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Projeto extensionista (coração da disciplina)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731525" y="1371600"/>
            <a:ext cx="10789800" cy="476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1097280" y="1645920"/>
            <a:ext cx="101499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Cada grupo define uma parte interessada (parceiro externo)</a:t>
            </a:r>
            <a:endParaRPr sz="2200"/>
          </a:p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 projeto é construído de forma dialógica com a comunidade/parceiro</a:t>
            </a:r>
            <a:endParaRPr sz="2200"/>
          </a:p>
          <a:p>
            <a:pPr indent="-3937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○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Objetivo: propor uma solução que gere benefício real com análise de dados</a:t>
            </a:r>
            <a:endParaRPr sz="2200"/>
          </a:p>
          <a:p>
            <a:pPr indent="-3937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Entregas organizadas no ‘Roteiro de Extensão’ (documento do grupo)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600"/>
              <a:buFont typeface="Calibri"/>
              <a:buChar char="○"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Será disponibilizado no SAVA.</a:t>
            </a:r>
            <a:endParaRPr sz="26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Etapas do desenvolvimento do projeto (visão macro)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1097280" y="1645920"/>
            <a:ext cx="101499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1) Definir grupo e parte interessada; diagnóstico de demandas e escopo</a:t>
            </a:r>
            <a:endParaRPr sz="19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2) Diagnóstico e teorização (Seção 1 do Roteiro)</a:t>
            </a:r>
            <a:endParaRPr sz="19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3) Planejamento e desenvolvimento (Seção 2)</a:t>
            </a:r>
            <a:endParaRPr sz="19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4) Detalhamento técnico + desenvolvimento + testes + implantação</a:t>
            </a:r>
            <a:endParaRPr sz="19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5) Encerramento: relato coletivo, avaliação do parceiro e relato individual</a:t>
            </a:r>
            <a:endParaRPr sz="19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6) Apresentação final dos projetos</a:t>
            </a:r>
            <a:endParaRPr sz="1900"/>
          </a:p>
        </p:txBody>
      </p:sp>
      <p:sp>
        <p:nvSpPr>
          <p:cNvPr id="246" name="Google Shape;246;p19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/>
          <p:nvPr/>
        </p:nvSpPr>
        <p:spPr>
          <a:xfrm>
            <a:off x="10332720" y="0"/>
            <a:ext cx="1858975" cy="6858000"/>
          </a:xfrm>
          <a:prstGeom prst="rtTriangle">
            <a:avLst/>
          </a:prstGeom>
          <a:solidFill>
            <a:srgbClr val="FF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Avaliação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731520" y="1828800"/>
            <a:ext cx="1078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Como a NF é formada e o que será observado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548640" y="6400800"/>
            <a:ext cx="1115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731520" y="5486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Como será a avaliação (Simulado 1 e 2 + NF)</a:t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1097280" y="1645920"/>
            <a:ext cx="10149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Simulado 1 (13/04/2026) - 1 ponto extra</a:t>
            </a:r>
            <a:endParaRPr sz="18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Simulado 2</a:t>
            </a:r>
            <a:r>
              <a:rPr lang="en-US" sz="1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 (25/05/2026) - 1 ponto extra</a:t>
            </a:r>
            <a:endParaRPr sz="180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Nota Final Única (NF) ao fim do semestre (máximo 10 pontos)</a:t>
            </a:r>
            <a:endParaRPr/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 NF considera competências desenvolvidas + resultados do projeto extensionista + notas dos simulados (limitado a 10 pontos)</a:t>
            </a:r>
            <a:endParaRPr/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As entregas são materializadas no Roteiro de Extensão (um por grupo)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Distribuição de pontos (NF = 10)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22"/>
          <p:cNvGraphicFramePr/>
          <p:nvPr/>
        </p:nvGraphicFramePr>
        <p:xfrm>
          <a:off x="1097280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{358976DE-368F-4E36-BF06-F8747FFC89EF}</a:tableStyleId>
              </a:tblPr>
              <a:tblGrid>
                <a:gridCol w="7589525"/>
                <a:gridCol w="2468875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Etapa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46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Pontos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468C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32D37"/>
                          </a:solidFill>
                        </a:rPr>
                        <a:t>I. Diagnóstico e Teorização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32D37"/>
                          </a:solidFill>
                        </a:rPr>
                        <a:t>2,0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32D37"/>
                          </a:solidFill>
                        </a:rPr>
                        <a:t>II. Planejamento e Desenvolvimento do Projeto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32D37"/>
                          </a:solidFill>
                        </a:rPr>
                        <a:t>4,5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32D37"/>
                          </a:solidFill>
                        </a:rPr>
                        <a:t>III.a Relato Coletivo (Encerramento)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32D37"/>
                          </a:solidFill>
                        </a:rPr>
                        <a:t>2,5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32D37"/>
                          </a:solidFill>
                        </a:rPr>
                        <a:t>III.b Relato Individual (Encerramento)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32D37"/>
                          </a:solidFill>
                        </a:rPr>
                        <a:t>1,0 (individual)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22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Critérios avaliativos (o que conta na prática)</a:t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1097280" y="1645920"/>
            <a:ext cx="101499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Desenvolvimento das atividades conforme o Plano de Aprendizagem</a:t>
            </a:r>
            <a:endParaRPr sz="2100"/>
          </a:p>
          <a:p>
            <a:pPr indent="-3873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Entregas das etapas no Roteiro de Extensão</a:t>
            </a:r>
            <a:endParaRPr sz="2100"/>
          </a:p>
          <a:p>
            <a:pPr indent="-3873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Articulação do conhecimento técnico com aplicação prática</a:t>
            </a:r>
            <a:endParaRPr sz="2100"/>
          </a:p>
          <a:p>
            <a:pPr indent="-3873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Cumprimento de prazos estabelecidos no cronograma</a:t>
            </a:r>
            <a:endParaRPr sz="2100"/>
          </a:p>
          <a:p>
            <a:pPr indent="-3873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Relevância social da atividade proposta</a:t>
            </a:r>
            <a:endParaRPr sz="2100"/>
          </a:p>
        </p:txBody>
      </p:sp>
      <p:sp>
        <p:nvSpPr>
          <p:cNvPr id="281" name="Google Shape;281;p23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Regras de aprovação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1097280" y="1645920"/>
            <a:ext cx="101499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Nota final (NF) ≥ 6,0</a:t>
            </a:r>
            <a:endParaRPr sz="27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Frequência ≥ 75%</a:t>
            </a:r>
            <a:endParaRPr sz="2700"/>
          </a:p>
        </p:txBody>
      </p:sp>
      <p:sp>
        <p:nvSpPr>
          <p:cNvPr id="290" name="Google Shape;290;p24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8C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/>
        </p:nvSpPr>
        <p:spPr>
          <a:xfrm>
            <a:off x="10332720" y="0"/>
            <a:ext cx="1858975" cy="6858000"/>
          </a:xfrm>
          <a:prstGeom prst="rtTriangle">
            <a:avLst/>
          </a:prstGeom>
          <a:solidFill>
            <a:srgbClr val="FFC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731520" y="1828800"/>
            <a:ext cx="10789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O que vamos fazer já nas primeiras semanas</a:t>
            </a:r>
            <a:endParaRPr sz="2500"/>
          </a:p>
        </p:txBody>
      </p:sp>
      <p:sp>
        <p:nvSpPr>
          <p:cNvPr id="298" name="Google Shape;298;p25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Próximos passos (semana 1–2)</a:t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731520" y="1371600"/>
            <a:ext cx="1078992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1097280" y="1645920"/>
            <a:ext cx="101499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Formação dos grupos (até 5 integrantes)</a:t>
            </a:r>
            <a:endParaRPr sz="2100"/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Levantamento de possíveis parceiros externos (partes interessadas)</a:t>
            </a:r>
            <a:endParaRPr sz="2100"/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Definição inicial do problema/demanda</a:t>
            </a:r>
            <a:endParaRPr sz="2100"/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Configuração do ambiente de trabalho (Python + ferramentas)</a:t>
            </a:r>
            <a:endParaRPr sz="2100"/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Início do Roteiro de Extensão: seção de diagnóstico</a:t>
            </a:r>
            <a:endParaRPr sz="2100"/>
          </a:p>
        </p:txBody>
      </p:sp>
      <p:sp>
        <p:nvSpPr>
          <p:cNvPr id="307" name="Google Shape;307;p26"/>
          <p:cNvSpPr txBox="1"/>
          <p:nvPr/>
        </p:nvSpPr>
        <p:spPr>
          <a:xfrm>
            <a:off x="914400" y="589788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5A646E"/>
                </a:solidFill>
                <a:latin typeface="Calibri"/>
                <a:ea typeface="Calibri"/>
                <a:cs typeface="Calibri"/>
                <a:sym typeface="Calibri"/>
              </a:rPr>
              <a:t>Sugestão: traga 2–3 exemplos de parceiros possíveis para inspirar a turma.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46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731520" y="1280160"/>
            <a:ext cx="1078992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 txBox="1"/>
          <p:nvPr/>
        </p:nvSpPr>
        <p:spPr>
          <a:xfrm>
            <a:off x="700882" y="517870"/>
            <a:ext cx="10789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3C78"/>
                </a:solidFill>
                <a:latin typeface="Calibri"/>
                <a:ea typeface="Calibri"/>
                <a:cs typeface="Calibri"/>
                <a:sym typeface="Calibri"/>
              </a:rPr>
              <a:t>Perguntas?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731520" y="1828800"/>
            <a:ext cx="1078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64646"/>
                </a:solidFill>
                <a:latin typeface="Calibri"/>
                <a:ea typeface="Calibri"/>
                <a:cs typeface="Calibri"/>
                <a:sym typeface="Calibri"/>
              </a:rPr>
              <a:t>Vamos alinhar expectativas e combinar as próximas entregas.</a:t>
            </a:r>
            <a:endParaRPr sz="2200"/>
          </a:p>
        </p:txBody>
      </p:sp>
      <p:sp>
        <p:nvSpPr>
          <p:cNvPr id="317" name="Google Shape;317;p27"/>
          <p:cNvSpPr txBox="1"/>
          <p:nvPr/>
        </p:nvSpPr>
        <p:spPr>
          <a:xfrm>
            <a:off x="1097280" y="2926080"/>
            <a:ext cx="10149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• Você já trabalhou com dados (planilhas, APIs, bancos, logs)?</a:t>
            </a:r>
            <a:endParaRPr sz="22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• Qual seu nível de Python hoje?</a:t>
            </a:r>
            <a:endParaRPr sz="22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• Que tipo de problema real você gostaria de resolver com dados?</a:t>
            </a:r>
            <a:endParaRPr sz="22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• O que você espera aprender nesta disciplina?</a:t>
            </a:r>
            <a:endParaRPr sz="2200"/>
          </a:p>
        </p:txBody>
      </p:sp>
      <p:sp>
        <p:nvSpPr>
          <p:cNvPr id="318" name="Google Shape;318;p27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468C"/>
                </a:solidFill>
                <a:latin typeface="Calibri"/>
                <a:ea typeface="Calibri"/>
                <a:cs typeface="Calibri"/>
                <a:sym typeface="Calibri"/>
              </a:rPr>
              <a:t>ARA0168 • Tópicos de Big Data em Python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