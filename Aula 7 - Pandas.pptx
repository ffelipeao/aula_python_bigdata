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906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5">
          <p15:clr>
            <a:srgbClr val="000000"/>
          </p15:clr>
        </p15:guide>
      </p15:notesGuideLst>
    </p:ext>
    <p:ext uri="http://customooxmlschemas.google.com/">
      <go:slidesCustomData xmlns:go="http://customooxmlschemas.google.com/" r:id="rId15" roundtripDataSignature="AMtx7mjWwI7iwrbLMO2tY0R4ROaZ79lv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5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79462" y="768350"/>
            <a:ext cx="554037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7737" y="4860925"/>
            <a:ext cx="520382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947737" y="4860925"/>
            <a:ext cx="520382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779463" y="768350"/>
            <a:ext cx="554037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45d859d64_0_13:notes"/>
          <p:cNvSpPr txBox="1"/>
          <p:nvPr>
            <p:ph idx="1" type="body"/>
          </p:nvPr>
        </p:nvSpPr>
        <p:spPr>
          <a:xfrm>
            <a:off x="709930" y="4925401"/>
            <a:ext cx="5679300" cy="40299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1245d859d64_0_13:notes"/>
          <p:cNvSpPr/>
          <p:nvPr>
            <p:ph idx="2" type="sldImg"/>
          </p:nvPr>
        </p:nvSpPr>
        <p:spPr>
          <a:xfrm>
            <a:off x="1242378" y="1279325"/>
            <a:ext cx="461460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245d859d64_0_21:notes"/>
          <p:cNvSpPr txBox="1"/>
          <p:nvPr>
            <p:ph idx="1" type="body"/>
          </p:nvPr>
        </p:nvSpPr>
        <p:spPr>
          <a:xfrm>
            <a:off x="709930" y="4925401"/>
            <a:ext cx="5679300" cy="40299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1245d859d64_0_21:notes"/>
          <p:cNvSpPr/>
          <p:nvPr>
            <p:ph idx="2" type="sldImg"/>
          </p:nvPr>
        </p:nvSpPr>
        <p:spPr>
          <a:xfrm>
            <a:off x="1242378" y="1279325"/>
            <a:ext cx="461460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45d859d64_0_29:notes"/>
          <p:cNvSpPr txBox="1"/>
          <p:nvPr>
            <p:ph idx="1" type="body"/>
          </p:nvPr>
        </p:nvSpPr>
        <p:spPr>
          <a:xfrm>
            <a:off x="709930" y="4925401"/>
            <a:ext cx="5679300" cy="40299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1245d859d64_0_29:notes"/>
          <p:cNvSpPr/>
          <p:nvPr>
            <p:ph idx="2" type="sldImg"/>
          </p:nvPr>
        </p:nvSpPr>
        <p:spPr>
          <a:xfrm>
            <a:off x="1242378" y="1279325"/>
            <a:ext cx="461460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45d859d64_0_37:notes"/>
          <p:cNvSpPr txBox="1"/>
          <p:nvPr>
            <p:ph idx="1" type="body"/>
          </p:nvPr>
        </p:nvSpPr>
        <p:spPr>
          <a:xfrm>
            <a:off x="709930" y="4925401"/>
            <a:ext cx="5679300" cy="40299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1245d859d64_0_37:notes"/>
          <p:cNvSpPr/>
          <p:nvPr>
            <p:ph idx="2" type="sldImg"/>
          </p:nvPr>
        </p:nvSpPr>
        <p:spPr>
          <a:xfrm>
            <a:off x="1242378" y="1279325"/>
            <a:ext cx="461460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245d859d64_0_45:notes"/>
          <p:cNvSpPr txBox="1"/>
          <p:nvPr>
            <p:ph idx="1" type="body"/>
          </p:nvPr>
        </p:nvSpPr>
        <p:spPr>
          <a:xfrm>
            <a:off x="709930" y="4925401"/>
            <a:ext cx="5679300" cy="40299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1245d859d64_0_45:notes"/>
          <p:cNvSpPr/>
          <p:nvPr>
            <p:ph idx="2" type="sldImg"/>
          </p:nvPr>
        </p:nvSpPr>
        <p:spPr>
          <a:xfrm>
            <a:off x="1242378" y="1279325"/>
            <a:ext cx="461460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45d859d64_0_53:notes"/>
          <p:cNvSpPr txBox="1"/>
          <p:nvPr>
            <p:ph idx="1" type="body"/>
          </p:nvPr>
        </p:nvSpPr>
        <p:spPr>
          <a:xfrm>
            <a:off x="709930" y="4925401"/>
            <a:ext cx="5679300" cy="40299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1245d859d64_0_53:notes"/>
          <p:cNvSpPr/>
          <p:nvPr>
            <p:ph idx="2" type="sldImg"/>
          </p:nvPr>
        </p:nvSpPr>
        <p:spPr>
          <a:xfrm>
            <a:off x="1242378" y="1279325"/>
            <a:ext cx="461460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245d859d64_0_61:notes"/>
          <p:cNvSpPr txBox="1"/>
          <p:nvPr>
            <p:ph idx="1" type="body"/>
          </p:nvPr>
        </p:nvSpPr>
        <p:spPr>
          <a:xfrm>
            <a:off x="709930" y="4925401"/>
            <a:ext cx="5679300" cy="40299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1245d859d64_0_61:notes"/>
          <p:cNvSpPr/>
          <p:nvPr>
            <p:ph idx="2" type="sldImg"/>
          </p:nvPr>
        </p:nvSpPr>
        <p:spPr>
          <a:xfrm>
            <a:off x="1242378" y="1279325"/>
            <a:ext cx="461460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8"/>
          <p:cNvSpPr txBox="1"/>
          <p:nvPr>
            <p:ph type="ctrTitle"/>
          </p:nvPr>
        </p:nvSpPr>
        <p:spPr>
          <a:xfrm>
            <a:off x="891540" y="758952"/>
            <a:ext cx="817245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" type="subTitle"/>
          </p:nvPr>
        </p:nvSpPr>
        <p:spPr>
          <a:xfrm>
            <a:off x="893791" y="4455621"/>
            <a:ext cx="8172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" name="Google Shape;21;p38"/>
          <p:cNvSpPr txBox="1"/>
          <p:nvPr>
            <p:ph idx="10" type="dt"/>
          </p:nvPr>
        </p:nvSpPr>
        <p:spPr>
          <a:xfrm>
            <a:off x="892175" y="6459537"/>
            <a:ext cx="2008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1" type="ftr"/>
          </p:nvPr>
        </p:nvSpPr>
        <p:spPr>
          <a:xfrm>
            <a:off x="2995612" y="6459537"/>
            <a:ext cx="3917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2" type="sldNum"/>
          </p:nvPr>
        </p:nvSpPr>
        <p:spPr>
          <a:xfrm>
            <a:off x="8043862" y="6459537"/>
            <a:ext cx="106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892175" y="287337"/>
            <a:ext cx="817245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892175" y="1846262"/>
            <a:ext cx="817245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0" type="dt"/>
          </p:nvPr>
        </p:nvSpPr>
        <p:spPr>
          <a:xfrm>
            <a:off x="892175" y="6459537"/>
            <a:ext cx="2008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11" type="ftr"/>
          </p:nvPr>
        </p:nvSpPr>
        <p:spPr>
          <a:xfrm>
            <a:off x="2995612" y="6459537"/>
            <a:ext cx="3917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2" type="sldNum"/>
          </p:nvPr>
        </p:nvSpPr>
        <p:spPr>
          <a:xfrm>
            <a:off x="8043862" y="6459537"/>
            <a:ext cx="106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>
            <p:ph type="title"/>
          </p:nvPr>
        </p:nvSpPr>
        <p:spPr>
          <a:xfrm>
            <a:off x="892175" y="287337"/>
            <a:ext cx="817245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7"/>
          <p:cNvSpPr txBox="1"/>
          <p:nvPr>
            <p:ph idx="1" type="body"/>
          </p:nvPr>
        </p:nvSpPr>
        <p:spPr>
          <a:xfrm rot="5400000">
            <a:off x="2967038" y="-228601"/>
            <a:ext cx="4022725" cy="817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0" type="dt"/>
          </p:nvPr>
        </p:nvSpPr>
        <p:spPr>
          <a:xfrm>
            <a:off x="892175" y="6459537"/>
            <a:ext cx="2008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7"/>
          <p:cNvSpPr txBox="1"/>
          <p:nvPr>
            <p:ph idx="11" type="ftr"/>
          </p:nvPr>
        </p:nvSpPr>
        <p:spPr>
          <a:xfrm>
            <a:off x="2995612" y="6459537"/>
            <a:ext cx="3917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7"/>
          <p:cNvSpPr txBox="1"/>
          <p:nvPr>
            <p:ph idx="12" type="sldNum"/>
          </p:nvPr>
        </p:nvSpPr>
        <p:spPr>
          <a:xfrm>
            <a:off x="8043862" y="6459537"/>
            <a:ext cx="106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8"/>
          <p:cNvSpPr txBox="1"/>
          <p:nvPr>
            <p:ph type="title"/>
          </p:nvPr>
        </p:nvSpPr>
        <p:spPr>
          <a:xfrm>
            <a:off x="892175" y="287337"/>
            <a:ext cx="817245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0" type="dt"/>
          </p:nvPr>
        </p:nvSpPr>
        <p:spPr>
          <a:xfrm>
            <a:off x="892175" y="6459537"/>
            <a:ext cx="2008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1" type="ftr"/>
          </p:nvPr>
        </p:nvSpPr>
        <p:spPr>
          <a:xfrm>
            <a:off x="2995612" y="6459537"/>
            <a:ext cx="3917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8"/>
          <p:cNvSpPr txBox="1"/>
          <p:nvPr>
            <p:ph idx="12" type="sldNum"/>
          </p:nvPr>
        </p:nvSpPr>
        <p:spPr>
          <a:xfrm>
            <a:off x="8043862" y="6459537"/>
            <a:ext cx="106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9"/>
          <p:cNvSpPr txBox="1"/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" type="body"/>
          </p:nvPr>
        </p:nvSpPr>
        <p:spPr>
          <a:xfrm>
            <a:off x="891540" y="1846052"/>
            <a:ext cx="401193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49"/>
          <p:cNvSpPr txBox="1"/>
          <p:nvPr>
            <p:ph idx="2" type="body"/>
          </p:nvPr>
        </p:nvSpPr>
        <p:spPr>
          <a:xfrm>
            <a:off x="891540" y="2582335"/>
            <a:ext cx="401193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4" name="Google Shape;54;p49"/>
          <p:cNvSpPr txBox="1"/>
          <p:nvPr>
            <p:ph idx="3" type="body"/>
          </p:nvPr>
        </p:nvSpPr>
        <p:spPr>
          <a:xfrm>
            <a:off x="5052060" y="1846052"/>
            <a:ext cx="401193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49"/>
          <p:cNvSpPr txBox="1"/>
          <p:nvPr>
            <p:ph idx="4" type="body"/>
          </p:nvPr>
        </p:nvSpPr>
        <p:spPr>
          <a:xfrm>
            <a:off x="5052060" y="2582334"/>
            <a:ext cx="401193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0" type="dt"/>
          </p:nvPr>
        </p:nvSpPr>
        <p:spPr>
          <a:xfrm>
            <a:off x="892175" y="6459537"/>
            <a:ext cx="2008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9"/>
          <p:cNvSpPr txBox="1"/>
          <p:nvPr>
            <p:ph idx="11" type="ftr"/>
          </p:nvPr>
        </p:nvSpPr>
        <p:spPr>
          <a:xfrm>
            <a:off x="2995612" y="6459537"/>
            <a:ext cx="3917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9"/>
          <p:cNvSpPr txBox="1"/>
          <p:nvPr>
            <p:ph idx="12" type="sldNum"/>
          </p:nvPr>
        </p:nvSpPr>
        <p:spPr>
          <a:xfrm>
            <a:off x="8043862" y="6459537"/>
            <a:ext cx="106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0"/>
          <p:cNvSpPr txBox="1"/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0"/>
          <p:cNvSpPr txBox="1"/>
          <p:nvPr>
            <p:ph idx="1" type="body"/>
          </p:nvPr>
        </p:nvSpPr>
        <p:spPr>
          <a:xfrm>
            <a:off x="891540" y="1845736"/>
            <a:ext cx="401193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2" name="Google Shape;62;p50"/>
          <p:cNvSpPr txBox="1"/>
          <p:nvPr>
            <p:ph idx="2" type="body"/>
          </p:nvPr>
        </p:nvSpPr>
        <p:spPr>
          <a:xfrm>
            <a:off x="5052060" y="1845735"/>
            <a:ext cx="401193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3" name="Google Shape;63;p50"/>
          <p:cNvSpPr txBox="1"/>
          <p:nvPr>
            <p:ph idx="10" type="dt"/>
          </p:nvPr>
        </p:nvSpPr>
        <p:spPr>
          <a:xfrm>
            <a:off x="892175" y="6459537"/>
            <a:ext cx="2008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0"/>
          <p:cNvSpPr txBox="1"/>
          <p:nvPr>
            <p:ph idx="11" type="ftr"/>
          </p:nvPr>
        </p:nvSpPr>
        <p:spPr>
          <a:xfrm>
            <a:off x="2995612" y="6459537"/>
            <a:ext cx="3917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0"/>
          <p:cNvSpPr txBox="1"/>
          <p:nvPr>
            <p:ph idx="12" type="sldNum"/>
          </p:nvPr>
        </p:nvSpPr>
        <p:spPr>
          <a:xfrm>
            <a:off x="8043862" y="6459537"/>
            <a:ext cx="106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/>
          <p:nvPr/>
        </p:nvSpPr>
        <p:spPr>
          <a:xfrm>
            <a:off x="3175" y="6400800"/>
            <a:ext cx="9902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7"/>
          <p:cNvSpPr/>
          <p:nvPr/>
        </p:nvSpPr>
        <p:spPr>
          <a:xfrm>
            <a:off x="0" y="6334125"/>
            <a:ext cx="9902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" name="Google Shape;12;p37"/>
          <p:cNvCxnSpPr/>
          <p:nvPr/>
        </p:nvCxnSpPr>
        <p:spPr>
          <a:xfrm>
            <a:off x="981075" y="4343400"/>
            <a:ext cx="8023225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" name="Google Shape;13;p37"/>
          <p:cNvSpPr txBox="1"/>
          <p:nvPr>
            <p:ph type="title"/>
          </p:nvPr>
        </p:nvSpPr>
        <p:spPr>
          <a:xfrm>
            <a:off x="892175" y="287337"/>
            <a:ext cx="817245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7"/>
          <p:cNvSpPr txBox="1"/>
          <p:nvPr>
            <p:ph idx="1" type="body"/>
          </p:nvPr>
        </p:nvSpPr>
        <p:spPr>
          <a:xfrm>
            <a:off x="892175" y="1846262"/>
            <a:ext cx="817245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7"/>
          <p:cNvSpPr txBox="1"/>
          <p:nvPr>
            <p:ph idx="10" type="dt"/>
          </p:nvPr>
        </p:nvSpPr>
        <p:spPr>
          <a:xfrm>
            <a:off x="892175" y="6459537"/>
            <a:ext cx="2008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7"/>
          <p:cNvSpPr txBox="1"/>
          <p:nvPr>
            <p:ph idx="11" type="ftr"/>
          </p:nvPr>
        </p:nvSpPr>
        <p:spPr>
          <a:xfrm>
            <a:off x="2995612" y="6459537"/>
            <a:ext cx="3917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7"/>
          <p:cNvSpPr txBox="1"/>
          <p:nvPr>
            <p:ph idx="12" type="sldNum"/>
          </p:nvPr>
        </p:nvSpPr>
        <p:spPr>
          <a:xfrm>
            <a:off x="8043862" y="6459537"/>
            <a:ext cx="106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9"/>
          <p:cNvSpPr/>
          <p:nvPr/>
        </p:nvSpPr>
        <p:spPr>
          <a:xfrm>
            <a:off x="0" y="6400800"/>
            <a:ext cx="9906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9"/>
          <p:cNvSpPr/>
          <p:nvPr/>
        </p:nvSpPr>
        <p:spPr>
          <a:xfrm>
            <a:off x="0" y="6334125"/>
            <a:ext cx="9906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9"/>
          <p:cNvSpPr txBox="1"/>
          <p:nvPr>
            <p:ph type="title"/>
          </p:nvPr>
        </p:nvSpPr>
        <p:spPr>
          <a:xfrm>
            <a:off x="892175" y="287337"/>
            <a:ext cx="817245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9"/>
          <p:cNvSpPr txBox="1"/>
          <p:nvPr>
            <p:ph idx="1" type="body"/>
          </p:nvPr>
        </p:nvSpPr>
        <p:spPr>
          <a:xfrm>
            <a:off x="892175" y="1846262"/>
            <a:ext cx="817245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9"/>
          <p:cNvSpPr txBox="1"/>
          <p:nvPr>
            <p:ph idx="10" type="dt"/>
          </p:nvPr>
        </p:nvSpPr>
        <p:spPr>
          <a:xfrm>
            <a:off x="892175" y="6459537"/>
            <a:ext cx="20081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9"/>
          <p:cNvSpPr txBox="1"/>
          <p:nvPr>
            <p:ph idx="11" type="ftr"/>
          </p:nvPr>
        </p:nvSpPr>
        <p:spPr>
          <a:xfrm>
            <a:off x="2995612" y="6459537"/>
            <a:ext cx="3917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9"/>
          <p:cNvSpPr txBox="1"/>
          <p:nvPr>
            <p:ph idx="12" type="sldNum"/>
          </p:nvPr>
        </p:nvSpPr>
        <p:spPr>
          <a:xfrm>
            <a:off x="8043862" y="6459537"/>
            <a:ext cx="106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39"/>
          <p:cNvCxnSpPr/>
          <p:nvPr/>
        </p:nvCxnSpPr>
        <p:spPr>
          <a:xfrm>
            <a:off x="969962" y="1738312"/>
            <a:ext cx="809783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://www.numpy.org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Relationship Id="rId4" Type="http://schemas.openxmlformats.org/officeDocument/2006/relationships/hyperlink" Target="https://www.scipy.org/scipylib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pandas.pydata.org/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scikit-learn.org/stable/" TargetMode="External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atplotlib.org/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seaborn.pydat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ctrTitle"/>
          </p:nvPr>
        </p:nvSpPr>
        <p:spPr>
          <a:xfrm>
            <a:off x="892175" y="758825"/>
            <a:ext cx="8172450" cy="3565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889"/>
              <a:buFont typeface="Calibri"/>
              <a:buNone/>
            </a:pPr>
            <a:r>
              <a:rPr lang="en-US"/>
              <a:t>Pandas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245d859d64_0_13"/>
          <p:cNvSpPr txBox="1"/>
          <p:nvPr>
            <p:ph type="title"/>
          </p:nvPr>
        </p:nvSpPr>
        <p:spPr>
          <a:xfrm>
            <a:off x="724892" y="287337"/>
            <a:ext cx="66402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Bibliotecas Python para Ciência de Dados</a:t>
            </a:r>
            <a:endParaRPr/>
          </a:p>
        </p:txBody>
      </p:sp>
      <p:sp>
        <p:nvSpPr>
          <p:cNvPr id="76" name="Google Shape;76;g1245d859d64_0_13"/>
          <p:cNvSpPr txBox="1"/>
          <p:nvPr>
            <p:ph idx="1" type="body"/>
          </p:nvPr>
        </p:nvSpPr>
        <p:spPr>
          <a:xfrm>
            <a:off x="724892" y="1846262"/>
            <a:ext cx="6640200" cy="4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Muitas caixas de ferramentas/bibliotecas Python populares: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en-US"/>
              <a:t>NumPy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en-US"/>
              <a:t>SciPy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en-US"/>
              <a:t>Pandas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en-US"/>
              <a:t>SciKit-Learn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Bibliotecas de visualização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en-US"/>
              <a:t>matplotlib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en-US"/>
              <a:t>Seaborn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                                        </a:t>
            </a:r>
            <a:endParaRPr/>
          </a:p>
        </p:txBody>
      </p:sp>
      <p:sp>
        <p:nvSpPr>
          <p:cNvPr id="77" name="Google Shape;77;g1245d859d64_0_13"/>
          <p:cNvSpPr txBox="1"/>
          <p:nvPr>
            <p:ph idx="12" type="sldNum"/>
          </p:nvPr>
        </p:nvSpPr>
        <p:spPr>
          <a:xfrm>
            <a:off x="6535638" y="6459537"/>
            <a:ext cx="86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245d859d64_0_21"/>
          <p:cNvSpPr txBox="1"/>
          <p:nvPr>
            <p:ph type="title"/>
          </p:nvPr>
        </p:nvSpPr>
        <p:spPr>
          <a:xfrm>
            <a:off x="724892" y="287337"/>
            <a:ext cx="66402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Bibliotecas Python para Ciência de Dados</a:t>
            </a:r>
            <a:endParaRPr/>
          </a:p>
        </p:txBody>
      </p:sp>
      <p:sp>
        <p:nvSpPr>
          <p:cNvPr id="83" name="Google Shape;83;g1245d859d64_0_21"/>
          <p:cNvSpPr txBox="1"/>
          <p:nvPr>
            <p:ph idx="1" type="body"/>
          </p:nvPr>
        </p:nvSpPr>
        <p:spPr>
          <a:xfrm>
            <a:off x="724892" y="1846262"/>
            <a:ext cx="6640200" cy="4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NumPy: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apresenta objetos para arrays e matrizes multidimensionais, bem como funções que permitem realizar facilmente operações matemáticas e estatísticas avançadas nesses objetos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fornece vetorização de operações matemáticas em arrays e matrizes o que melhora significativamente o desempenho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muitas outras bibliotecas python são construídas no NumPy</a:t>
            </a:r>
            <a:endParaRPr/>
          </a:p>
        </p:txBody>
      </p:sp>
      <p:sp>
        <p:nvSpPr>
          <p:cNvPr id="84" name="Google Shape;84;g1245d859d64_0_21"/>
          <p:cNvSpPr txBox="1"/>
          <p:nvPr>
            <p:ph idx="12" type="sldNum"/>
          </p:nvPr>
        </p:nvSpPr>
        <p:spPr>
          <a:xfrm>
            <a:off x="6535638" y="6459537"/>
            <a:ext cx="86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umPy" id="85" name="Google Shape;85;g1245d859d64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9419" y="127698"/>
            <a:ext cx="1393031" cy="4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1245d859d64_0_21"/>
          <p:cNvSpPr txBox="1"/>
          <p:nvPr/>
        </p:nvSpPr>
        <p:spPr>
          <a:xfrm>
            <a:off x="681038" y="5807631"/>
            <a:ext cx="36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http://www.numpy.org/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245d859d64_0_29"/>
          <p:cNvSpPr txBox="1"/>
          <p:nvPr>
            <p:ph type="title"/>
          </p:nvPr>
        </p:nvSpPr>
        <p:spPr>
          <a:xfrm>
            <a:off x="724892" y="287337"/>
            <a:ext cx="66402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Bibliotecas Python para Ciência de Dados</a:t>
            </a:r>
            <a:endParaRPr/>
          </a:p>
        </p:txBody>
      </p:sp>
      <p:sp>
        <p:nvSpPr>
          <p:cNvPr id="92" name="Google Shape;92;g1245d859d64_0_29"/>
          <p:cNvSpPr txBox="1"/>
          <p:nvPr>
            <p:ph idx="1" type="body"/>
          </p:nvPr>
        </p:nvSpPr>
        <p:spPr>
          <a:xfrm>
            <a:off x="724892" y="1846262"/>
            <a:ext cx="6640200" cy="4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SciPy: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coleção de algoritmos para álgebra linear, equações diferenciais, integração numérica, otimização, estatística e muito mais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parte do SciPy Stack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construído no NumPy</a:t>
            </a:r>
            <a:endParaRPr/>
          </a:p>
        </p:txBody>
      </p:sp>
      <p:sp>
        <p:nvSpPr>
          <p:cNvPr id="93" name="Google Shape;93;g1245d859d64_0_29"/>
          <p:cNvSpPr txBox="1"/>
          <p:nvPr>
            <p:ph idx="12" type="sldNum"/>
          </p:nvPr>
        </p:nvSpPr>
        <p:spPr>
          <a:xfrm>
            <a:off x="6535638" y="6459537"/>
            <a:ext cx="86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4" name="Google Shape;94;g1245d859d64_0_29"/>
          <p:cNvPicPr preferRelativeResize="0"/>
          <p:nvPr/>
        </p:nvPicPr>
        <p:blipFill rotWithShape="1">
          <a:blip r:embed="rId3">
            <a:alphaModFix/>
          </a:blip>
          <a:srcRect b="0" l="1038" r="41257" t="0"/>
          <a:stretch/>
        </p:blipFill>
        <p:spPr>
          <a:xfrm>
            <a:off x="8236839" y="130874"/>
            <a:ext cx="1453705" cy="5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1245d859d64_0_29"/>
          <p:cNvSpPr txBox="1"/>
          <p:nvPr/>
        </p:nvSpPr>
        <p:spPr>
          <a:xfrm>
            <a:off x="681038" y="5807631"/>
            <a:ext cx="45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https://www.scipy.org/scipylib/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245d859d64_0_37"/>
          <p:cNvSpPr txBox="1"/>
          <p:nvPr>
            <p:ph type="title"/>
          </p:nvPr>
        </p:nvSpPr>
        <p:spPr>
          <a:xfrm>
            <a:off x="724892" y="287337"/>
            <a:ext cx="66402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Bibliotecas Python para Ciência de Dados</a:t>
            </a:r>
            <a:endParaRPr/>
          </a:p>
        </p:txBody>
      </p:sp>
      <p:sp>
        <p:nvSpPr>
          <p:cNvPr id="101" name="Google Shape;101;g1245d859d64_0_37"/>
          <p:cNvSpPr txBox="1"/>
          <p:nvPr>
            <p:ph idx="1" type="body"/>
          </p:nvPr>
        </p:nvSpPr>
        <p:spPr>
          <a:xfrm>
            <a:off x="724892" y="1846262"/>
            <a:ext cx="6640200" cy="4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Pandas: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adiciona estruturas de dados e ferramentas projetadas para trabalhar com dados semelhantes a tabelas (semelhante a Series e Data Frames em 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fornece ferramentas para manipulação de dados: reformulação, mesclagem, classificação, fatiamento, agregação etc.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permite lidar com dados ausentes</a:t>
            </a:r>
            <a:endParaRPr/>
          </a:p>
        </p:txBody>
      </p:sp>
      <p:sp>
        <p:nvSpPr>
          <p:cNvPr id="102" name="Google Shape;102;g1245d859d64_0_37"/>
          <p:cNvSpPr txBox="1"/>
          <p:nvPr>
            <p:ph idx="12" type="sldNum"/>
          </p:nvPr>
        </p:nvSpPr>
        <p:spPr>
          <a:xfrm>
            <a:off x="6535638" y="6459537"/>
            <a:ext cx="86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g1245d859d64_0_37"/>
          <p:cNvSpPr txBox="1"/>
          <p:nvPr/>
        </p:nvSpPr>
        <p:spPr>
          <a:xfrm>
            <a:off x="681038" y="5807631"/>
            <a:ext cx="45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http://pandas.pydata.org/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" id="104" name="Google Shape;104;g1245d859d64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8927" y="80519"/>
            <a:ext cx="2695913" cy="56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245d859d64_0_45"/>
          <p:cNvSpPr txBox="1"/>
          <p:nvPr/>
        </p:nvSpPr>
        <p:spPr>
          <a:xfrm>
            <a:off x="676085" y="5807631"/>
            <a:ext cx="45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http://scikit-learn.org/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245d859d64_0_45"/>
          <p:cNvSpPr txBox="1"/>
          <p:nvPr>
            <p:ph type="title"/>
          </p:nvPr>
        </p:nvSpPr>
        <p:spPr>
          <a:xfrm>
            <a:off x="724892" y="287337"/>
            <a:ext cx="66402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Bibliotecas Python para Ciência de Dados</a:t>
            </a:r>
            <a:endParaRPr/>
          </a:p>
        </p:txBody>
      </p:sp>
      <p:sp>
        <p:nvSpPr>
          <p:cNvPr id="111" name="Google Shape;111;g1245d859d64_0_45"/>
          <p:cNvSpPr txBox="1"/>
          <p:nvPr>
            <p:ph idx="1" type="body"/>
          </p:nvPr>
        </p:nvSpPr>
        <p:spPr>
          <a:xfrm>
            <a:off x="724892" y="1846262"/>
            <a:ext cx="6640200" cy="4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SciKit-Learn: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fornece algoritmos de aprendizado de máquina: classificação, regressão, clustering, validação de modelo etc.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construído em NumPy, SciPy e matplotlib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12" name="Google Shape;112;g1245d859d64_0_45"/>
          <p:cNvSpPr txBox="1"/>
          <p:nvPr>
            <p:ph idx="12" type="sldNum"/>
          </p:nvPr>
        </p:nvSpPr>
        <p:spPr>
          <a:xfrm>
            <a:off x="6535638" y="6459537"/>
            <a:ext cx="86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" id="113" name="Google Shape;113;g1245d859d64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116" y="149923"/>
            <a:ext cx="1238250" cy="448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45d859d64_0_53"/>
          <p:cNvSpPr txBox="1"/>
          <p:nvPr>
            <p:ph idx="1" type="body"/>
          </p:nvPr>
        </p:nvSpPr>
        <p:spPr>
          <a:xfrm>
            <a:off x="724892" y="1846262"/>
            <a:ext cx="6640200" cy="4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matplotlib: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biblioteca de plotagem 2D python que produz figuras de qualidade de publicação em vários formatos de cópia impressa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um conjunto de funcionalidades semelhantes às do MATLAB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gráficos de linha, gráficos de dispersão, gráficos de barras, histogramas, gráficos de pizza etc.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nível relativamente baixo; algum esforço necessário para criar visualização avançada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19" name="Google Shape;119;g1245d859d64_0_53"/>
          <p:cNvSpPr txBox="1"/>
          <p:nvPr/>
        </p:nvSpPr>
        <p:spPr>
          <a:xfrm>
            <a:off x="676085" y="5807631"/>
            <a:ext cx="45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https://matplotlib.org/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245d859d64_0_53"/>
          <p:cNvSpPr txBox="1"/>
          <p:nvPr>
            <p:ph type="title"/>
          </p:nvPr>
        </p:nvSpPr>
        <p:spPr>
          <a:xfrm>
            <a:off x="724892" y="287337"/>
            <a:ext cx="66402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Bibliotecas Python para Ciência de Dados</a:t>
            </a:r>
            <a:endParaRPr/>
          </a:p>
        </p:txBody>
      </p:sp>
      <p:sp>
        <p:nvSpPr>
          <p:cNvPr id="121" name="Google Shape;121;g1245d859d64_0_53"/>
          <p:cNvSpPr txBox="1"/>
          <p:nvPr>
            <p:ph idx="12" type="sldNum"/>
          </p:nvPr>
        </p:nvSpPr>
        <p:spPr>
          <a:xfrm>
            <a:off x="6535638" y="6459537"/>
            <a:ext cx="86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" name="Google Shape;122;g1245d859d64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7831" y="119373"/>
            <a:ext cx="1773969" cy="39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45d859d64_0_61"/>
          <p:cNvSpPr txBox="1"/>
          <p:nvPr>
            <p:ph idx="1" type="body"/>
          </p:nvPr>
        </p:nvSpPr>
        <p:spPr>
          <a:xfrm>
            <a:off x="724892" y="1846262"/>
            <a:ext cx="6640200" cy="4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Seaborn: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baseado em matplotlib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fornece interface de alto nível para desenhar gráficos estatísticos atraentes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Semelhante (em grande estilo) à popular biblioteca ggplot2 em R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28" name="Google Shape;128;g1245d859d64_0_61"/>
          <p:cNvSpPr txBox="1"/>
          <p:nvPr/>
        </p:nvSpPr>
        <p:spPr>
          <a:xfrm>
            <a:off x="676085" y="5807631"/>
            <a:ext cx="45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https://seaborn.pydata.org/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1245d859d64_0_61"/>
          <p:cNvSpPr txBox="1"/>
          <p:nvPr>
            <p:ph type="title"/>
          </p:nvPr>
        </p:nvSpPr>
        <p:spPr>
          <a:xfrm>
            <a:off x="724892" y="287337"/>
            <a:ext cx="66402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Bibliotecas Python para Ciência de Dados</a:t>
            </a:r>
            <a:endParaRPr/>
          </a:p>
        </p:txBody>
      </p:sp>
      <p:sp>
        <p:nvSpPr>
          <p:cNvPr id="130" name="Google Shape;130;g1245d859d64_0_61"/>
          <p:cNvSpPr txBox="1"/>
          <p:nvPr>
            <p:ph idx="12" type="sldNum"/>
          </p:nvPr>
        </p:nvSpPr>
        <p:spPr>
          <a:xfrm>
            <a:off x="6535638" y="6459537"/>
            <a:ext cx="86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Retrospectiva">
  <a:themeElements>
    <a:clrScheme name="Retrospectiva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1999-05-16T17:59:44Z</dcterms:created>
  <dc:creator>MFS</dc:creator>
</cp:coreProperties>
</file>