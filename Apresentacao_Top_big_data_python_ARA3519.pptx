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hwzL8biWJ5Gfk38n2Md6SFRSvn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a8618a6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ca8618a6d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a8618a6d2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g3ca8618a6d2_0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a8618a6d2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g3ca8618a6d2_0_2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a8618a6d2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g3ca8618a6d2_0_2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8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a8618a6d2_0_0"/>
          <p:cNvSpPr/>
          <p:nvPr/>
        </p:nvSpPr>
        <p:spPr>
          <a:xfrm>
            <a:off x="0" y="5989320"/>
            <a:ext cx="12191700" cy="868800"/>
          </a:xfrm>
          <a:prstGeom prst="rect">
            <a:avLst/>
          </a:prstGeom>
          <a:solidFill>
            <a:srgbClr val="FFC40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ca8618a6d2_0_0"/>
          <p:cNvSpPr txBox="1"/>
          <p:nvPr/>
        </p:nvSpPr>
        <p:spPr>
          <a:xfrm>
            <a:off x="731520" y="960120"/>
            <a:ext cx="107898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Tópicos de Big Data</a:t>
            </a:r>
            <a:b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ca8618a6d2_0_0"/>
          <p:cNvSpPr txBox="1"/>
          <p:nvPr/>
        </p:nvSpPr>
        <p:spPr>
          <a:xfrm>
            <a:off x="731520" y="2397750"/>
            <a:ext cx="10789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Apresentação da disciplina • ARA</a:t>
            </a:r>
            <a:r>
              <a:rPr lang="en-US" sz="3100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3519</a:t>
            </a:r>
            <a:endParaRPr sz="3100">
              <a:solidFill>
                <a:srgbClr val="E6E6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ca8618a6d2_0_0"/>
          <p:cNvSpPr txBox="1"/>
          <p:nvPr/>
        </p:nvSpPr>
        <p:spPr>
          <a:xfrm>
            <a:off x="777240" y="5074920"/>
            <a:ext cx="10789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Professor Felipe Alves de Oliveira -  2026.1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a8618a6d2_0_82"/>
          <p:cNvSpPr/>
          <p:nvPr/>
        </p:nvSpPr>
        <p:spPr>
          <a:xfrm>
            <a:off x="0" y="0"/>
            <a:ext cx="12191700" cy="384000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ca8618a6d2_0_82"/>
          <p:cNvSpPr txBox="1"/>
          <p:nvPr/>
        </p:nvSpPr>
        <p:spPr>
          <a:xfrm>
            <a:off x="731520" y="548640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3C78"/>
                </a:solidFill>
                <a:latin typeface="Calibri"/>
                <a:ea typeface="Calibri"/>
                <a:cs typeface="Calibri"/>
                <a:sym typeface="Calibri"/>
              </a:rPr>
              <a:t>O que é Big Data?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ca8618a6d2_0_82"/>
          <p:cNvSpPr/>
          <p:nvPr/>
        </p:nvSpPr>
        <p:spPr>
          <a:xfrm>
            <a:off x="731520" y="1371600"/>
            <a:ext cx="10789800" cy="438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ca8618a6d2_0_82"/>
          <p:cNvSpPr txBox="1"/>
          <p:nvPr/>
        </p:nvSpPr>
        <p:spPr>
          <a:xfrm>
            <a:off x="1142980" y="1645370"/>
            <a:ext cx="10149900" cy="3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●"/>
            </a:pPr>
            <a:r>
              <a:rPr b="0" i="0" lang="en-US" sz="2600" u="none" cap="none" strike="noStrike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Big Data trata do armazenamento, processamento e análise de grandes volumes de dados</a:t>
            </a:r>
            <a:endParaRPr b="0" i="0" sz="2600" u="none" cap="none" strike="noStrike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●"/>
            </a:pPr>
            <a:r>
              <a:rPr b="0" i="0" lang="en-US" sz="2600" u="none" cap="none" strike="noStrike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Envolve dados que exigem abordagens e ferramentas além das soluções tradicionais</a:t>
            </a:r>
            <a:endParaRPr b="0" i="0" sz="2600" u="none" cap="none" strike="noStrike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○"/>
            </a:pPr>
            <a:r>
              <a:rPr b="0" i="0" lang="en-US" sz="2600" u="none" cap="none" strike="noStrike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Objetivo: transformar dados em informação útil para decisões, automação e previsões</a:t>
            </a:r>
            <a:endParaRPr b="0" i="0" sz="2600" u="none" cap="none" strike="noStrike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ca8618a6d2_0_82"/>
          <p:cNvSpPr txBox="1"/>
          <p:nvPr/>
        </p:nvSpPr>
        <p:spPr>
          <a:xfrm>
            <a:off x="548640" y="6400800"/>
            <a:ext cx="11155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rgbClr val="00468C"/>
                </a:solidFill>
                <a:latin typeface="Calibri"/>
                <a:ea typeface="Calibri"/>
                <a:cs typeface="Calibri"/>
                <a:sym typeface="Calibri"/>
              </a:rPr>
              <a:t>ARA3519 • Tópicos de Big Data em Python</a:t>
            </a:r>
            <a:endParaRPr sz="1000">
              <a:solidFill>
                <a:srgbClr val="0046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a8618a6d2_0_248"/>
          <p:cNvSpPr/>
          <p:nvPr/>
        </p:nvSpPr>
        <p:spPr>
          <a:xfrm>
            <a:off x="0" y="0"/>
            <a:ext cx="12191700" cy="384000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ca8618a6d2_0_248"/>
          <p:cNvSpPr txBox="1"/>
          <p:nvPr/>
        </p:nvSpPr>
        <p:spPr>
          <a:xfrm>
            <a:off x="731520" y="548640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3C78"/>
                </a:solidFill>
                <a:latin typeface="Calibri"/>
                <a:ea typeface="Calibri"/>
                <a:cs typeface="Calibri"/>
                <a:sym typeface="Calibri"/>
              </a:rPr>
              <a:t>Por que estudar Big Data?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ca8618a6d2_0_248"/>
          <p:cNvSpPr/>
          <p:nvPr/>
        </p:nvSpPr>
        <p:spPr>
          <a:xfrm>
            <a:off x="731520" y="1371600"/>
            <a:ext cx="10789800" cy="438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ca8618a6d2_0_248"/>
          <p:cNvSpPr txBox="1"/>
          <p:nvPr/>
        </p:nvSpPr>
        <p:spPr>
          <a:xfrm>
            <a:off x="1142980" y="1744745"/>
            <a:ext cx="10149900" cy="3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●"/>
            </a:pPr>
            <a:r>
              <a:rPr b="0" i="0" lang="en-US" sz="2600" u="none" cap="none" strike="noStrike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Os dados estão em todo lugar: IoT, transações, redes sociais, logs, serviços digitais</a:t>
            </a:r>
            <a:endParaRPr b="0" i="0" sz="2600" u="none" cap="none" strike="noStrike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●"/>
            </a:pPr>
            <a:r>
              <a:rPr b="0" i="0" lang="en-US" sz="2600" u="none" cap="none" strike="noStrike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Organizações usam dados para eficiência, inovação e vantagem competitiva</a:t>
            </a:r>
            <a:endParaRPr b="0" i="0" sz="2600" u="none" cap="none" strike="noStrike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●"/>
            </a:pPr>
            <a:r>
              <a:rPr b="0" i="0" lang="en-US" sz="2600" u="none" cap="none" strike="noStrike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A disciplina foca em habilidades aplicáveis: preparar, processar e analisar dados em escala</a:t>
            </a:r>
            <a:endParaRPr b="0" i="0" sz="2600" u="none" cap="none" strike="noStrike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ca8618a6d2_0_248"/>
          <p:cNvSpPr txBox="1"/>
          <p:nvPr/>
        </p:nvSpPr>
        <p:spPr>
          <a:xfrm>
            <a:off x="548640" y="6400800"/>
            <a:ext cx="11155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rgbClr val="00468C"/>
                </a:solidFill>
                <a:latin typeface="Calibri"/>
                <a:ea typeface="Calibri"/>
                <a:cs typeface="Calibri"/>
                <a:sym typeface="Calibri"/>
              </a:rPr>
              <a:t>ARA3519 • Tópicos de Big Data em Python</a:t>
            </a:r>
            <a:endParaRPr sz="1000">
              <a:solidFill>
                <a:srgbClr val="0046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a8618a6d2_0_256"/>
          <p:cNvSpPr/>
          <p:nvPr/>
        </p:nvSpPr>
        <p:spPr>
          <a:xfrm>
            <a:off x="0" y="0"/>
            <a:ext cx="12191700" cy="384000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ca8618a6d2_0_256"/>
          <p:cNvSpPr txBox="1"/>
          <p:nvPr/>
        </p:nvSpPr>
        <p:spPr>
          <a:xfrm>
            <a:off x="731520" y="548640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3C78"/>
                </a:solidFill>
                <a:latin typeface="Calibri"/>
                <a:ea typeface="Calibri"/>
                <a:cs typeface="Calibri"/>
                <a:sym typeface="Calibri"/>
              </a:rPr>
              <a:t>Big Data + Python (o combo da prática)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ca8618a6d2_0_256"/>
          <p:cNvSpPr/>
          <p:nvPr/>
        </p:nvSpPr>
        <p:spPr>
          <a:xfrm>
            <a:off x="731520" y="1371600"/>
            <a:ext cx="10789800" cy="438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ca8618a6d2_0_256"/>
          <p:cNvSpPr txBox="1"/>
          <p:nvPr/>
        </p:nvSpPr>
        <p:spPr>
          <a:xfrm>
            <a:off x="1243830" y="1765695"/>
            <a:ext cx="10149900" cy="3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●"/>
            </a:pPr>
            <a:r>
              <a:rPr b="0" i="0" lang="en-US" sz="2600" u="none" cap="none" strike="noStrike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Python é central em ciência de dados e analytics (ecossistema de bibliotecas)</a:t>
            </a:r>
            <a:endParaRPr b="0" i="0" sz="2600" u="none" cap="none" strike="noStrike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●"/>
            </a:pPr>
            <a:r>
              <a:rPr b="0" i="0" lang="en-US" sz="2600" u="none" cap="none" strike="noStrike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Pandas para análise e preparação de dados</a:t>
            </a:r>
            <a:endParaRPr b="0" i="0" sz="2600" u="none" cap="none" strike="noStrike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●"/>
            </a:pPr>
            <a:r>
              <a:rPr b="0" i="0" lang="en-US" sz="2600" u="none" cap="none" strike="noStrike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PySpark para processamento distribuído e pipelines</a:t>
            </a:r>
            <a:endParaRPr b="0" i="0" sz="2600" u="none" cap="none" strike="noStrike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●"/>
            </a:pPr>
            <a:r>
              <a:rPr b="0" i="0" lang="en-US" sz="2600" u="none" cap="none" strike="noStrike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Noções de Hadoop e armazenamento (HDFS / Data Lake)</a:t>
            </a:r>
            <a:endParaRPr b="0" i="0" sz="2600" u="none" cap="none" strike="noStrike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●"/>
            </a:pPr>
            <a:r>
              <a:rPr b="0" i="0" lang="en-US" sz="2600" u="none" cap="none" strike="noStrike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Analytics e IA aplicada ao contexto do projeto</a:t>
            </a:r>
            <a:endParaRPr b="0" i="0" sz="2600" u="none" cap="none" strike="noStrike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ca8618a6d2_0_256"/>
          <p:cNvSpPr txBox="1"/>
          <p:nvPr/>
        </p:nvSpPr>
        <p:spPr>
          <a:xfrm>
            <a:off x="548640" y="6400800"/>
            <a:ext cx="11155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rgbClr val="00468C"/>
                </a:solidFill>
                <a:latin typeface="Calibri"/>
                <a:ea typeface="Calibri"/>
                <a:cs typeface="Calibri"/>
                <a:sym typeface="Calibri"/>
              </a:rPr>
              <a:t>ARA3519 • Tópicos de Big Data em Python</a:t>
            </a:r>
            <a:endParaRPr sz="1000">
              <a:solidFill>
                <a:srgbClr val="0046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8C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Conteúdo da disciplina</a:t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548640" y="6400800"/>
            <a:ext cx="1097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ARA3519 • Tópicos de Big Data em Python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731525" y="1953750"/>
            <a:ext cx="8971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O que você será capaz de fazer ao final do semestre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731520" y="54864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3C78"/>
                </a:solidFill>
                <a:latin typeface="Calibri"/>
                <a:ea typeface="Calibri"/>
                <a:cs typeface="Calibri"/>
                <a:sym typeface="Calibri"/>
              </a:rPr>
              <a:t>Unidades de aprendizagem</a:t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731520" y="1371600"/>
            <a:ext cx="1078992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1097280" y="1645920"/>
            <a:ext cx="10058400" cy="3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700"/>
              <a:buFont typeface="Calibri"/>
              <a:buChar char="●"/>
            </a:pPr>
            <a:r>
              <a:rPr lang="en-US" sz="27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Princípios de Big Data</a:t>
            </a:r>
            <a:endParaRPr sz="2300"/>
          </a:p>
          <a:p>
            <a:pPr indent="-4000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700"/>
              <a:buFont typeface="Calibri"/>
              <a:buChar char="●"/>
            </a:pPr>
            <a:r>
              <a:rPr lang="en-US" sz="27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Hadoop e armazenamento de dados</a:t>
            </a:r>
            <a:endParaRPr sz="2300"/>
          </a:p>
          <a:p>
            <a:pPr indent="-4000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700"/>
              <a:buFont typeface="Calibri"/>
              <a:buChar char="●"/>
            </a:pPr>
            <a:r>
              <a:rPr lang="en-US" sz="27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Spark com Python (PySpark)</a:t>
            </a:r>
            <a:endParaRPr sz="2300"/>
          </a:p>
          <a:p>
            <a:pPr indent="-4000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700"/>
              <a:buFont typeface="Calibri"/>
              <a:buChar char="●"/>
            </a:pPr>
            <a:r>
              <a:rPr lang="en-US" sz="27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Análise de dados com Pandas</a:t>
            </a:r>
            <a:endParaRPr sz="2300"/>
          </a:p>
          <a:p>
            <a:pPr indent="-4000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700"/>
              <a:buFont typeface="Calibri"/>
              <a:buChar char="●"/>
            </a:pPr>
            <a:r>
              <a:rPr lang="en-US" sz="27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Big Data Analytics e IA</a:t>
            </a:r>
            <a:endParaRPr sz="2300"/>
          </a:p>
        </p:txBody>
      </p:sp>
      <p:sp>
        <p:nvSpPr>
          <p:cNvPr id="130" name="Google Shape;130;p5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468C"/>
                </a:solidFill>
                <a:latin typeface="Calibri"/>
                <a:ea typeface="Calibri"/>
                <a:cs typeface="Calibri"/>
                <a:sym typeface="Calibri"/>
              </a:rPr>
              <a:t>ARA3519 • Tópicos de Big Data em Python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731520" y="54864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3C78"/>
                </a:solidFill>
                <a:latin typeface="Calibri"/>
                <a:ea typeface="Calibri"/>
                <a:cs typeface="Calibri"/>
                <a:sym typeface="Calibri"/>
              </a:rPr>
              <a:t>Ferramentas utilizadas</a:t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731520" y="1371600"/>
            <a:ext cx="1078992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1097280" y="1645920"/>
            <a:ext cx="10058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937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2200"/>
          </a:p>
          <a:p>
            <a:pPr indent="-3937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Pandas</a:t>
            </a:r>
            <a:endParaRPr sz="2200"/>
          </a:p>
          <a:p>
            <a:pPr indent="-3937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PySpark</a:t>
            </a:r>
            <a:endParaRPr sz="2200"/>
          </a:p>
          <a:p>
            <a:pPr indent="-3937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Conceitos de Hadoop</a:t>
            </a:r>
            <a:endParaRPr sz="2200"/>
          </a:p>
          <a:p>
            <a:pPr indent="-3937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sz="2200"/>
          </a:p>
        </p:txBody>
      </p:sp>
      <p:sp>
        <p:nvSpPr>
          <p:cNvPr id="139" name="Google Shape;139;p6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468C"/>
                </a:solidFill>
                <a:latin typeface="Calibri"/>
                <a:ea typeface="Calibri"/>
                <a:cs typeface="Calibri"/>
                <a:sym typeface="Calibri"/>
              </a:rPr>
              <a:t>ARA3519 • Tópicos de Big Data em Python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8C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Metodologia</a:t>
            </a:r>
            <a:endParaRPr/>
          </a:p>
        </p:txBody>
      </p:sp>
      <p:sp>
        <p:nvSpPr>
          <p:cNvPr id="145" name="Google Shape;145;p7"/>
          <p:cNvSpPr txBox="1"/>
          <p:nvPr/>
        </p:nvSpPr>
        <p:spPr>
          <a:xfrm>
            <a:off x="548640" y="6400800"/>
            <a:ext cx="1097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ARA3519 • Tópicos de Big Data em Python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731520" y="54864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3C78"/>
                </a:solidFill>
                <a:latin typeface="Calibri"/>
                <a:ea typeface="Calibri"/>
                <a:cs typeface="Calibri"/>
                <a:sym typeface="Calibri"/>
              </a:rPr>
              <a:t>Como vamos aprender</a:t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731520" y="1371600"/>
            <a:ext cx="1078992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1097280" y="1645920"/>
            <a:ext cx="100584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Sala de aula invertida</a:t>
            </a:r>
            <a:endParaRPr sz="2400"/>
          </a:p>
          <a:p>
            <a:pPr indent="-4064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Aprendizagem baseada em problemas</a:t>
            </a:r>
            <a:endParaRPr sz="2400"/>
          </a:p>
          <a:p>
            <a:pPr indent="-4064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Estudos prévios no AVA</a:t>
            </a:r>
            <a:endParaRPr sz="2400"/>
          </a:p>
          <a:p>
            <a:pPr indent="-4064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Discussões e atividades práticas nos encontros presenciais</a:t>
            </a:r>
            <a:endParaRPr sz="2400"/>
          </a:p>
        </p:txBody>
      </p:sp>
      <p:sp>
        <p:nvSpPr>
          <p:cNvPr id="154" name="Google Shape;154;p8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468C"/>
                </a:solidFill>
                <a:latin typeface="Calibri"/>
                <a:ea typeface="Calibri"/>
                <a:cs typeface="Calibri"/>
                <a:sym typeface="Calibri"/>
              </a:rPr>
              <a:t>ARA3519 • Tópicos de Big Data em Python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8C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Avaliação</a:t>
            </a:r>
            <a:endParaRPr/>
          </a:p>
        </p:txBody>
      </p:sp>
      <p:sp>
        <p:nvSpPr>
          <p:cNvPr id="160" name="Google Shape;160;p9"/>
          <p:cNvSpPr txBox="1"/>
          <p:nvPr/>
        </p:nvSpPr>
        <p:spPr>
          <a:xfrm>
            <a:off x="548640" y="6400800"/>
            <a:ext cx="1097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ARA3519 • Tópicos de Big Data em Python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 txBox="1"/>
          <p:nvPr/>
        </p:nvSpPr>
        <p:spPr>
          <a:xfrm>
            <a:off x="731520" y="54864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3C78"/>
                </a:solidFill>
                <a:latin typeface="Calibri"/>
                <a:ea typeface="Calibri"/>
                <a:cs typeface="Calibri"/>
                <a:sym typeface="Calibri"/>
              </a:rPr>
              <a:t>Como será a avaliação</a:t>
            </a:r>
            <a:endParaRPr/>
          </a:p>
        </p:txBody>
      </p:sp>
      <p:sp>
        <p:nvSpPr>
          <p:cNvPr id="167" name="Google Shape;167;p10"/>
          <p:cNvSpPr/>
          <p:nvPr/>
        </p:nvSpPr>
        <p:spPr>
          <a:xfrm>
            <a:off x="731520" y="1371600"/>
            <a:ext cx="1078992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 txBox="1"/>
          <p:nvPr/>
        </p:nvSpPr>
        <p:spPr>
          <a:xfrm>
            <a:off x="1097280" y="1645920"/>
            <a:ext cx="100584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700"/>
              <a:buFont typeface="Calibri"/>
              <a:buChar char="●"/>
            </a:pPr>
            <a:r>
              <a:rPr lang="en-US" sz="27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Avaliações presenciais </a:t>
            </a:r>
            <a:endParaRPr sz="2700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700"/>
              <a:buFont typeface="Calibri"/>
              <a:buChar char="●"/>
            </a:pPr>
            <a:r>
              <a:rPr lang="en-US" sz="27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Simulado 1 e Simulado 2 (1 ponto extra cada)</a:t>
            </a:r>
            <a:endParaRPr sz="2700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700"/>
              <a:buFont typeface="Calibri"/>
              <a:buChar char="●"/>
            </a:pPr>
            <a:r>
              <a:rPr lang="en-US" sz="27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AV (Avaliação Principal) – 0 a 10 pontos</a:t>
            </a:r>
            <a:endParaRPr sz="2300"/>
          </a:p>
          <a:p>
            <a:pPr indent="-4000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700"/>
              <a:buFont typeface="Calibri"/>
              <a:buChar char="●"/>
            </a:pPr>
            <a:r>
              <a:rPr lang="en-US" sz="27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AVS (Substitutiva) – substitui AV se a nota for maior</a:t>
            </a:r>
            <a:endParaRPr sz="2300"/>
          </a:p>
        </p:txBody>
      </p:sp>
      <p:sp>
        <p:nvSpPr>
          <p:cNvPr id="169" name="Google Shape;169;p10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468C"/>
                </a:solidFill>
                <a:latin typeface="Calibri"/>
                <a:ea typeface="Calibri"/>
                <a:cs typeface="Calibri"/>
                <a:sym typeface="Calibri"/>
              </a:rPr>
              <a:t>ARA3519 • Tópicos de Big Data em Python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 txBox="1"/>
          <p:nvPr/>
        </p:nvSpPr>
        <p:spPr>
          <a:xfrm>
            <a:off x="731520" y="54864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3C78"/>
                </a:solidFill>
                <a:latin typeface="Calibri"/>
                <a:ea typeface="Calibri"/>
                <a:cs typeface="Calibri"/>
                <a:sym typeface="Calibri"/>
              </a:rPr>
              <a:t>Critérios para aprovação</a:t>
            </a:r>
            <a:endParaRPr/>
          </a:p>
        </p:txBody>
      </p:sp>
      <p:sp>
        <p:nvSpPr>
          <p:cNvPr id="176" name="Google Shape;176;p11"/>
          <p:cNvSpPr/>
          <p:nvPr/>
        </p:nvSpPr>
        <p:spPr>
          <a:xfrm>
            <a:off x="731520" y="1371600"/>
            <a:ext cx="1078992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1097280" y="1645920"/>
            <a:ext cx="100584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Nota ≥ 6,0 na AV ou AVS</a:t>
            </a:r>
            <a:endParaRPr sz="2500"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Frequência mínima de 75% das aulas</a:t>
            </a:r>
            <a:endParaRPr sz="2500"/>
          </a:p>
        </p:txBody>
      </p:sp>
      <p:sp>
        <p:nvSpPr>
          <p:cNvPr id="178" name="Google Shape;178;p11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468C"/>
                </a:solidFill>
                <a:latin typeface="Calibri"/>
                <a:ea typeface="Calibri"/>
                <a:cs typeface="Calibri"/>
                <a:sym typeface="Calibri"/>
              </a:rPr>
              <a:t>ARA3519 • Tópicos de Big Data em Python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 txBox="1"/>
          <p:nvPr/>
        </p:nvSpPr>
        <p:spPr>
          <a:xfrm>
            <a:off x="731520" y="54864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3C78"/>
                </a:solidFill>
                <a:latin typeface="Calibri"/>
                <a:ea typeface="Calibri"/>
                <a:cs typeface="Calibri"/>
                <a:sym typeface="Calibri"/>
              </a:rPr>
              <a:t>Dinâmica das avaliações</a:t>
            </a:r>
            <a:endParaRPr/>
          </a:p>
        </p:txBody>
      </p:sp>
      <p:sp>
        <p:nvSpPr>
          <p:cNvPr id="185" name="Google Shape;185;p12"/>
          <p:cNvSpPr/>
          <p:nvPr/>
        </p:nvSpPr>
        <p:spPr>
          <a:xfrm>
            <a:off x="731520" y="1371600"/>
            <a:ext cx="1078992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2"/>
          <p:cNvSpPr txBox="1"/>
          <p:nvPr/>
        </p:nvSpPr>
        <p:spPr>
          <a:xfrm>
            <a:off x="1097280" y="1645920"/>
            <a:ext cx="100584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Provas presenciais aplicadas pela instituição</a:t>
            </a:r>
            <a:endParaRPr sz="2300"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Conteúdo baseado nos temas estudados no AVA</a:t>
            </a:r>
            <a:endParaRPr sz="2300"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AVS funciona como recuperação de nota</a:t>
            </a:r>
            <a:endParaRPr sz="2300"/>
          </a:p>
        </p:txBody>
      </p:sp>
      <p:sp>
        <p:nvSpPr>
          <p:cNvPr id="187" name="Google Shape;187;p12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468C"/>
                </a:solidFill>
                <a:latin typeface="Calibri"/>
                <a:ea typeface="Calibri"/>
                <a:cs typeface="Calibri"/>
                <a:sym typeface="Calibri"/>
              </a:rPr>
              <a:t>ARA3519 • Tópicos de Big Data em Python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8C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Encerramento</a:t>
            </a:r>
            <a:endParaRPr/>
          </a:p>
        </p:txBody>
      </p:sp>
      <p:sp>
        <p:nvSpPr>
          <p:cNvPr id="193" name="Google Shape;193;p13"/>
          <p:cNvSpPr txBox="1"/>
          <p:nvPr/>
        </p:nvSpPr>
        <p:spPr>
          <a:xfrm>
            <a:off x="548640" y="6400800"/>
            <a:ext cx="1097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ARA3519 • Tópicos de Big Data em Python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4"/>
          <p:cNvSpPr txBox="1"/>
          <p:nvPr/>
        </p:nvSpPr>
        <p:spPr>
          <a:xfrm>
            <a:off x="731520" y="54864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3C78"/>
                </a:solidFill>
                <a:latin typeface="Calibri"/>
                <a:ea typeface="Calibri"/>
                <a:cs typeface="Calibri"/>
                <a:sym typeface="Calibri"/>
              </a:rPr>
              <a:t>Perguntas para a turma</a:t>
            </a:r>
            <a:endParaRPr/>
          </a:p>
        </p:txBody>
      </p:sp>
      <p:sp>
        <p:nvSpPr>
          <p:cNvPr id="200" name="Google Shape;200;p14"/>
          <p:cNvSpPr/>
          <p:nvPr/>
        </p:nvSpPr>
        <p:spPr>
          <a:xfrm>
            <a:off x="731520" y="1371600"/>
            <a:ext cx="1078992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4"/>
          <p:cNvSpPr txBox="1"/>
          <p:nvPr/>
        </p:nvSpPr>
        <p:spPr>
          <a:xfrm>
            <a:off x="1097280" y="1645920"/>
            <a:ext cx="100584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Qual seu nível atual em Python?</a:t>
            </a:r>
            <a:endParaRPr sz="2500"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Já trabalhou com análise de dados?</a:t>
            </a:r>
            <a:endParaRPr sz="2500"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O que espera aprender nesta disciplina?</a:t>
            </a:r>
            <a:endParaRPr sz="2500"/>
          </a:p>
        </p:txBody>
      </p:sp>
      <p:sp>
        <p:nvSpPr>
          <p:cNvPr id="202" name="Google Shape;202;p14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468C"/>
                </a:solidFill>
                <a:latin typeface="Calibri"/>
                <a:ea typeface="Calibri"/>
                <a:cs typeface="Calibri"/>
                <a:sym typeface="Calibri"/>
              </a:rPr>
              <a:t>ARA3519 • Tópicos de Big Data em Python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